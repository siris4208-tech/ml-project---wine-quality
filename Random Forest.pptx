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DM Sans Bold" charset="1" panose="00000000000000000000"/>
      <p:regular r:id="rId15"/>
    </p:embeddedFont>
    <p:embeddedFont>
      <p:font typeface="DM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15" Target="../media/image30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8625" y="428625"/>
            <a:ext cx="17468989" cy="9429750"/>
          </a:xfrm>
          <a:custGeom>
            <a:avLst/>
            <a:gdLst/>
            <a:ahLst/>
            <a:cxnLst/>
            <a:rect r="r" b="b" t="t" l="l"/>
            <a:pathLst>
              <a:path h="9429750" w="17468989">
                <a:moveTo>
                  <a:pt x="0" y="0"/>
                </a:moveTo>
                <a:lnTo>
                  <a:pt x="17468989" y="0"/>
                </a:lnTo>
                <a:lnTo>
                  <a:pt x="17468989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516" r="0" b="-3351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49958" y="4067542"/>
            <a:ext cx="14388084" cy="49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5"/>
              </a:lnSpc>
            </a:pPr>
            <a:r>
              <a:rPr lang="en-US" sz="3550" spc="-71" b="true">
                <a:solidFill>
                  <a:srgbClr val="421C1A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Importance Analysis For Wine Quality Using Random Forest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544925" y="3483483"/>
            <a:ext cx="1095375" cy="2152650"/>
          </a:xfrm>
          <a:custGeom>
            <a:avLst/>
            <a:gdLst/>
            <a:ahLst/>
            <a:cxnLst/>
            <a:rect r="r" b="b" t="t" l="l"/>
            <a:pathLst>
              <a:path h="2152650" w="1095375">
                <a:moveTo>
                  <a:pt x="0" y="0"/>
                </a:moveTo>
                <a:lnTo>
                  <a:pt x="1095375" y="0"/>
                </a:lnTo>
                <a:lnTo>
                  <a:pt x="10953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1850" y="8353425"/>
            <a:ext cx="3486150" cy="1933575"/>
          </a:xfrm>
          <a:custGeom>
            <a:avLst/>
            <a:gdLst/>
            <a:ahLst/>
            <a:cxnLst/>
            <a:rect r="r" b="b" t="t" l="l"/>
            <a:pathLst>
              <a:path h="1933575" w="3486150">
                <a:moveTo>
                  <a:pt x="0" y="0"/>
                </a:moveTo>
                <a:lnTo>
                  <a:pt x="3486150" y="0"/>
                </a:lnTo>
                <a:lnTo>
                  <a:pt x="3486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87700" y="857250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4583" y="3483483"/>
            <a:ext cx="1095375" cy="2152650"/>
          </a:xfrm>
          <a:custGeom>
            <a:avLst/>
            <a:gdLst/>
            <a:ahLst/>
            <a:cxnLst/>
            <a:rect r="r" b="b" t="t" l="l"/>
            <a:pathLst>
              <a:path h="2152650" w="1095375">
                <a:moveTo>
                  <a:pt x="0" y="0"/>
                </a:moveTo>
                <a:lnTo>
                  <a:pt x="1095375" y="0"/>
                </a:lnTo>
                <a:lnTo>
                  <a:pt x="10953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29866" y="7582768"/>
            <a:ext cx="2816352" cy="41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b="true">
                <a:solidFill>
                  <a:srgbClr val="421C1A"/>
                </a:solidFill>
                <a:latin typeface="DM Sans Bold"/>
                <a:ea typeface="DM Sans Bold"/>
                <a:cs typeface="DM Sans Bold"/>
                <a:sym typeface="DM Sans Bold"/>
              </a:rPr>
              <a:t>TEAM MEMBER: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29866" y="8171405"/>
            <a:ext cx="2688336" cy="35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421C1A"/>
                </a:solidFill>
                <a:latin typeface="DM Sans"/>
                <a:ea typeface="DM Sans"/>
                <a:cs typeface="DM Sans"/>
                <a:sym typeface="DM Sans"/>
              </a:rPr>
              <a:t>Roll No. 2520030609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550" y="209550"/>
            <a:ext cx="10029825" cy="9867900"/>
          </a:xfrm>
          <a:custGeom>
            <a:avLst/>
            <a:gdLst/>
            <a:ahLst/>
            <a:cxnLst/>
            <a:rect r="r" b="b" t="t" l="l"/>
            <a:pathLst>
              <a:path h="9867900" w="10029825">
                <a:moveTo>
                  <a:pt x="0" y="0"/>
                </a:moveTo>
                <a:lnTo>
                  <a:pt x="10029825" y="0"/>
                </a:lnTo>
                <a:lnTo>
                  <a:pt x="10029825" y="9867900"/>
                </a:lnTo>
                <a:lnTo>
                  <a:pt x="0" y="9867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128" y="1462434"/>
            <a:ext cx="7607808" cy="130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7"/>
              </a:lnSpc>
            </a:pPr>
            <a:r>
              <a:rPr lang="en-US" sz="9887" b="true">
                <a:solidFill>
                  <a:srgbClr val="F8F0DE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3571875"/>
            <a:ext cx="73152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3613">
                <a:solidFill>
                  <a:srgbClr val="F8F0DE"/>
                </a:solidFill>
                <a:latin typeface="DM Sans"/>
                <a:ea typeface="DM Sans"/>
                <a:cs typeface="DM Sans"/>
                <a:sym typeface="DM Sans"/>
              </a:rPr>
              <a:t>Wine quality is traditionally assessed by expert tasters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128" y="5050917"/>
            <a:ext cx="552297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3435">
                <a:solidFill>
                  <a:srgbClr val="F8F0DE"/>
                </a:solidFill>
                <a:latin typeface="DM Sans"/>
                <a:ea typeface="DM Sans"/>
                <a:cs typeface="DM Sans"/>
                <a:sym typeface="DM Sans"/>
              </a:rPr>
              <a:t>This process is slow, costly, and can be inconsistent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128" y="6441948"/>
            <a:ext cx="801014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3613">
                <a:solidFill>
                  <a:srgbClr val="F8F0DE"/>
                </a:solidFill>
                <a:latin typeface="DM Sans"/>
                <a:ea typeface="DM Sans"/>
                <a:cs typeface="DM Sans"/>
                <a:sym typeface="DM Sans"/>
              </a:rPr>
              <a:t>Machine learning can uncover patterns in chemical properties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4128" y="7871079"/>
            <a:ext cx="740664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3577">
                <a:solidFill>
                  <a:srgbClr val="F8F0DE"/>
                </a:solidFill>
                <a:latin typeface="DM Sans"/>
                <a:ea typeface="DM Sans"/>
                <a:cs typeface="DM Sans"/>
                <a:sym typeface="DM Sans"/>
              </a:rPr>
              <a:t>Predict wine quality more efficiently with data-driven models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550" y="209550"/>
            <a:ext cx="10248900" cy="9867900"/>
          </a:xfrm>
          <a:custGeom>
            <a:avLst/>
            <a:gdLst/>
            <a:ahLst/>
            <a:cxnLst/>
            <a:rect r="r" b="b" t="t" l="l"/>
            <a:pathLst>
              <a:path h="9867900" w="10248900">
                <a:moveTo>
                  <a:pt x="0" y="0"/>
                </a:moveTo>
                <a:lnTo>
                  <a:pt x="10248900" y="0"/>
                </a:lnTo>
                <a:lnTo>
                  <a:pt x="10248900" y="9867900"/>
                </a:lnTo>
                <a:lnTo>
                  <a:pt x="0" y="9867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128" y="1801905"/>
            <a:ext cx="5394960" cy="130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7"/>
              </a:lnSpc>
            </a:pPr>
            <a:r>
              <a:rPr lang="en-US" sz="9887" b="true">
                <a:solidFill>
                  <a:srgbClr val="F8F0DE"/>
                </a:solidFill>
                <a:latin typeface="DM Sans Bold"/>
                <a:ea typeface="DM Sans Bold"/>
                <a:cs typeface="DM Sans Bold"/>
                <a:sym typeface="DM Sans Bold"/>
              </a:rPr>
              <a:t>Abstract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3830101"/>
            <a:ext cx="5742432" cy="110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D1D1C2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 red wine quality from chemical measurements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128" y="5327466"/>
            <a:ext cx="6053328" cy="118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D1D1C2"/>
                </a:solidFill>
                <a:latin typeface="DM Sans Bold"/>
                <a:ea typeface="DM Sans Bold"/>
                <a:cs typeface="DM Sans Bold"/>
                <a:sym typeface="DM Sans Bold"/>
              </a:rPr>
              <a:t>Identify the features that drive quality predictions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128" y="7000472"/>
            <a:ext cx="7370064" cy="113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23" b="true">
                <a:solidFill>
                  <a:srgbClr val="D1D1C2"/>
                </a:solidFill>
                <a:latin typeface="DM Sans Bold"/>
                <a:ea typeface="DM Sans Bold"/>
                <a:cs typeface="DM Sans Bold"/>
                <a:sym typeface="DM Sans Bold"/>
              </a:rPr>
              <a:t>Use Random Forest to combine many decision trees and reduce bias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7191375" cy="10287000"/>
          </a:xfrm>
          <a:custGeom>
            <a:avLst/>
            <a:gdLst/>
            <a:ahLst/>
            <a:cxnLst/>
            <a:rect r="r" b="b" t="t" l="l"/>
            <a:pathLst>
              <a:path h="10287000" w="7191375">
                <a:moveTo>
                  <a:pt x="0" y="0"/>
                </a:moveTo>
                <a:lnTo>
                  <a:pt x="7191375" y="0"/>
                </a:lnTo>
                <a:lnTo>
                  <a:pt x="7191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62775" y="428625"/>
            <a:ext cx="10896600" cy="9648825"/>
          </a:xfrm>
          <a:custGeom>
            <a:avLst/>
            <a:gdLst/>
            <a:ahLst/>
            <a:cxnLst/>
            <a:rect r="r" b="b" t="t" l="l"/>
            <a:pathLst>
              <a:path h="9648825" w="10896600">
                <a:moveTo>
                  <a:pt x="0" y="0"/>
                </a:moveTo>
                <a:lnTo>
                  <a:pt x="10896600" y="0"/>
                </a:lnTo>
                <a:lnTo>
                  <a:pt x="10896600" y="9648825"/>
                </a:lnTo>
                <a:lnTo>
                  <a:pt x="0" y="964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14775" y="4286250"/>
            <a:ext cx="2838450" cy="1285875"/>
          </a:xfrm>
          <a:custGeom>
            <a:avLst/>
            <a:gdLst/>
            <a:ahLst/>
            <a:cxnLst/>
            <a:rect r="r" b="b" t="t" l="l"/>
            <a:pathLst>
              <a:path h="1285875" w="2838450">
                <a:moveTo>
                  <a:pt x="0" y="0"/>
                </a:moveTo>
                <a:lnTo>
                  <a:pt x="2838450" y="0"/>
                </a:lnTo>
                <a:lnTo>
                  <a:pt x="283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91856" y="1093680"/>
            <a:ext cx="8449056" cy="146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6"/>
              </a:lnSpc>
            </a:pPr>
            <a:r>
              <a:rPr lang="en-US" sz="8611" b="true">
                <a:solidFill>
                  <a:srgbClr val="4C2B2A"/>
                </a:solidFill>
                <a:latin typeface="DM Sans Bold"/>
                <a:ea typeface="DM Sans Bold"/>
                <a:cs typeface="DM Sans Bold"/>
                <a:sym typeface="DM Sans Bold"/>
              </a:rPr>
              <a:t>Existing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91856" y="3472931"/>
            <a:ext cx="7845552" cy="114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>
                <a:solidFill>
                  <a:srgbClr val="4C2B2A"/>
                </a:solidFill>
                <a:latin typeface="DM Sans"/>
                <a:ea typeface="DM Sans"/>
                <a:cs typeface="DM Sans"/>
                <a:sym typeface="DM Sans"/>
              </a:rPr>
              <a:t>Wine quality is judged by human senses such as smell, taste, and appearance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91856" y="4985484"/>
            <a:ext cx="8119872" cy="54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>
                <a:solidFill>
                  <a:srgbClr val="4C2B2A"/>
                </a:solidFill>
                <a:latin typeface="DM Sans"/>
                <a:ea typeface="DM Sans"/>
                <a:cs typeface="DM Sans"/>
                <a:sym typeface="DM Sans"/>
              </a:rPr>
              <a:t>This process is time-consuming and costly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91856" y="5996121"/>
            <a:ext cx="7242048" cy="118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4C2B2A"/>
                </a:solidFill>
                <a:latin typeface="DM Sans"/>
                <a:ea typeface="DM Sans"/>
                <a:cs typeface="DM Sans"/>
                <a:sym typeface="DM Sans"/>
              </a:rPr>
              <a:t>Results vary between people and are hard to reproduce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91856" y="7570032"/>
            <a:ext cx="7790688" cy="118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4C2B2A"/>
                </a:solidFill>
                <a:latin typeface="DM Sans"/>
                <a:ea typeface="DM Sans"/>
                <a:cs typeface="DM Sans"/>
                <a:sym typeface="DM Sans"/>
              </a:rPr>
              <a:t>Struggles to keep up with large volumes of data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550" y="209550"/>
            <a:ext cx="10029825" cy="9867900"/>
          </a:xfrm>
          <a:custGeom>
            <a:avLst/>
            <a:gdLst/>
            <a:ahLst/>
            <a:cxnLst/>
            <a:rect r="r" b="b" t="t" l="l"/>
            <a:pathLst>
              <a:path h="9867900" w="10029825">
                <a:moveTo>
                  <a:pt x="0" y="0"/>
                </a:moveTo>
                <a:lnTo>
                  <a:pt x="10029825" y="0"/>
                </a:lnTo>
                <a:lnTo>
                  <a:pt x="10029825" y="9867900"/>
                </a:lnTo>
                <a:lnTo>
                  <a:pt x="0" y="9867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25296" y="1495698"/>
            <a:ext cx="8394192" cy="105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3"/>
              </a:lnSpc>
            </a:pPr>
            <a:r>
              <a:rPr lang="en-US" sz="7973" spc="-159" b="true">
                <a:solidFill>
                  <a:srgbClr val="E8DCD0"/>
                </a:solidFill>
                <a:latin typeface="DM Sans Bold"/>
                <a:ea typeface="DM Sans Bold"/>
                <a:cs typeface="DM Sans Bold"/>
                <a:sym typeface="DM Sans Bold"/>
              </a:rPr>
              <a:t>Proposed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85850" y="3209925"/>
            <a:ext cx="657225" cy="5791200"/>
          </a:xfrm>
          <a:custGeom>
            <a:avLst/>
            <a:gdLst/>
            <a:ahLst/>
            <a:cxnLst/>
            <a:rect r="r" b="b" t="t" l="l"/>
            <a:pathLst>
              <a:path h="5791200" w="657225">
                <a:moveTo>
                  <a:pt x="0" y="0"/>
                </a:moveTo>
                <a:lnTo>
                  <a:pt x="657225" y="0"/>
                </a:lnTo>
                <a:lnTo>
                  <a:pt x="6572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9696" y="3354530"/>
            <a:ext cx="7370064" cy="43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762" b="true">
                <a:solidFill>
                  <a:srgbClr val="E8DCD0"/>
                </a:solidFill>
                <a:latin typeface="DM Sans Bold"/>
                <a:ea typeface="DM Sans Bold"/>
                <a:cs typeface="DM Sans Bold"/>
                <a:sym typeface="DM Sans Bold"/>
              </a:rPr>
              <a:t>Prepare and clean the wine quality 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39696" y="4223088"/>
            <a:ext cx="5230368" cy="916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833" b="true">
                <a:solidFill>
                  <a:srgbClr val="E8DCD0"/>
                </a:solidFill>
                <a:latin typeface="DM Sans Bold"/>
                <a:ea typeface="DM Sans Bold"/>
                <a:cs typeface="DM Sans Bold"/>
                <a:sym typeface="DM Sans Bold"/>
              </a:rPr>
              <a:t>Separate chemical properties from quality scores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9696" y="5598308"/>
            <a:ext cx="4846320" cy="44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833" b="true">
                <a:solidFill>
                  <a:srgbClr val="E8DCD0"/>
                </a:solidFill>
                <a:latin typeface="DM Sans Bold"/>
                <a:ea typeface="DM Sans Bold"/>
                <a:cs typeface="DM Sans Bold"/>
                <a:sym typeface="DM Sans Bold"/>
              </a:rPr>
              <a:t>Train Random Forest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39696" y="6534425"/>
            <a:ext cx="3511296" cy="44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833" b="true">
                <a:solidFill>
                  <a:srgbClr val="E8DCD0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 wine quality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39696" y="7465554"/>
            <a:ext cx="5120640" cy="45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sz="2797" b="true">
                <a:solidFill>
                  <a:srgbClr val="E8DCD0"/>
                </a:solidFill>
                <a:latin typeface="DM Sans Bold"/>
                <a:ea typeface="DM Sans Bold"/>
                <a:cs typeface="DM Sans Bold"/>
                <a:sym typeface="DM Sans Bold"/>
              </a:rPr>
              <a:t>Calculate feature importance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9696" y="8426021"/>
            <a:ext cx="3840480" cy="43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762" b="true">
                <a:solidFill>
                  <a:srgbClr val="E8DCD0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 results clearly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9536" y="1544140"/>
            <a:ext cx="9363456" cy="116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4"/>
              </a:lnSpc>
            </a:pPr>
            <a:r>
              <a:rPr lang="en-US" sz="8824" b="true">
                <a:solidFill>
                  <a:srgbClr val="F8F0E6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Workflow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6775" y="428625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4480" y="4908677"/>
            <a:ext cx="347472" cy="86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0"/>
              </a:lnSpc>
            </a:pPr>
            <a:r>
              <a:rPr lang="en-US" sz="6520" b="true">
                <a:solidFill>
                  <a:srgbClr val="F8F0E6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609850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57550" y="428625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50208" y="4908677"/>
            <a:ext cx="475488" cy="86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0"/>
              </a:lnSpc>
            </a:pPr>
            <a:r>
              <a:rPr lang="en-US" sz="6520" b="true">
                <a:solidFill>
                  <a:srgbClr val="F8F0E6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000625" y="4924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57850" y="4286250"/>
            <a:ext cx="1962150" cy="1933575"/>
          </a:xfrm>
          <a:custGeom>
            <a:avLst/>
            <a:gdLst/>
            <a:ahLst/>
            <a:cxnLst/>
            <a:rect r="r" b="b" t="t" l="l"/>
            <a:pathLst>
              <a:path h="1933575" w="1962150">
                <a:moveTo>
                  <a:pt x="0" y="0"/>
                </a:moveTo>
                <a:lnTo>
                  <a:pt x="1962150" y="0"/>
                </a:lnTo>
                <a:lnTo>
                  <a:pt x="1962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00800" y="4908677"/>
            <a:ext cx="475488" cy="86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0"/>
              </a:lnSpc>
            </a:pPr>
            <a:r>
              <a:rPr lang="en-US" sz="6520" b="true">
                <a:solidFill>
                  <a:srgbClr val="F8F0E6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400925" y="49244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048625" y="428625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33104" y="4908677"/>
            <a:ext cx="475488" cy="86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0"/>
              </a:lnSpc>
            </a:pPr>
            <a:r>
              <a:rPr lang="en-US" sz="6520" b="true">
                <a:solidFill>
                  <a:srgbClr val="F8F0E6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010775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68000" y="4286250"/>
            <a:ext cx="1743075" cy="1933575"/>
          </a:xfrm>
          <a:custGeom>
            <a:avLst/>
            <a:gdLst/>
            <a:ahLst/>
            <a:cxnLst/>
            <a:rect r="r" b="b" t="t" l="l"/>
            <a:pathLst>
              <a:path h="1933575" w="1743075">
                <a:moveTo>
                  <a:pt x="0" y="0"/>
                </a:moveTo>
                <a:lnTo>
                  <a:pt x="1743075" y="0"/>
                </a:lnTo>
                <a:lnTo>
                  <a:pt x="1743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265408" y="4908677"/>
            <a:ext cx="475488" cy="86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0"/>
              </a:lnSpc>
            </a:pPr>
            <a:r>
              <a:rPr lang="en-US" sz="6520" b="true">
                <a:solidFill>
                  <a:srgbClr val="F8F0E6"/>
                </a:solidFill>
                <a:latin typeface="DM Sans Bold"/>
                <a:ea typeface="DM Sans Bold"/>
                <a:cs typeface="DM Sans Bold"/>
                <a:sym typeface="DM Sans Bold"/>
              </a:rPr>
              <a:t>5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401550" y="4924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58775" y="428625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01850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449550" y="428625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130016" y="4908677"/>
            <a:ext cx="475488" cy="86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0"/>
              </a:lnSpc>
            </a:pPr>
            <a:r>
              <a:rPr lang="en-US" sz="6520" b="true">
                <a:solidFill>
                  <a:srgbClr val="F8F0E6"/>
                </a:solidFill>
                <a:latin typeface="DM Sans Bold"/>
                <a:ea typeface="DM Sans Bold"/>
                <a:cs typeface="DM Sans Bold"/>
                <a:sym typeface="DM Sans Bold"/>
              </a:rPr>
              <a:t>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1520" y="6497899"/>
            <a:ext cx="2011680" cy="89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sz="2620">
                <a:solidFill>
                  <a:srgbClr val="F8F0E6"/>
                </a:solidFill>
                <a:latin typeface="DM Sans"/>
                <a:ea typeface="DM Sans"/>
                <a:cs typeface="DM Sans"/>
                <a:sym typeface="DM Sans"/>
              </a:rPr>
              <a:t>Wine Quality Dataset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01568" y="6578118"/>
            <a:ext cx="1609344" cy="120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1"/>
              </a:lnSpc>
            </a:pPr>
            <a:r>
              <a:rPr lang="en-US" sz="2337">
                <a:solidFill>
                  <a:srgbClr val="F8F0E6"/>
                </a:solidFill>
                <a:latin typeface="DM Sans"/>
                <a:ea typeface="DM Sans"/>
                <a:cs typeface="DM Sans"/>
                <a:sym typeface="DM Sans"/>
              </a:rPr>
              <a:t>Data Cleaning / Preparation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97296" y="6500757"/>
            <a:ext cx="1664208" cy="135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sz="2620">
                <a:solidFill>
                  <a:srgbClr val="F8F0E6"/>
                </a:solidFill>
                <a:latin typeface="DM Sans"/>
                <a:ea typeface="DM Sans"/>
                <a:cs typeface="DM Sans"/>
                <a:sym typeface="DM Sans"/>
              </a:rPr>
              <a:t>Split Features &amp; Target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30768" y="6500757"/>
            <a:ext cx="1335024" cy="135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sz="2620">
                <a:solidFill>
                  <a:srgbClr val="F8F0E6"/>
                </a:solidFill>
                <a:latin typeface="DM Sans"/>
                <a:ea typeface="DM Sans"/>
                <a:cs typeface="DM Sans"/>
                <a:sym typeface="DM Sans"/>
              </a:rPr>
              <a:t>Train Random Forest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17936" y="6497899"/>
            <a:ext cx="1133856" cy="89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sz="2620">
                <a:solidFill>
                  <a:srgbClr val="F8F0E6"/>
                </a:solidFill>
                <a:latin typeface="DM Sans"/>
                <a:ea typeface="DM Sans"/>
                <a:cs typeface="DM Sans"/>
                <a:sym typeface="DM Sans"/>
              </a:rPr>
              <a:t>Predict Quality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57632" y="6500307"/>
            <a:ext cx="1755648" cy="1353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9"/>
              </a:lnSpc>
            </a:pPr>
            <a:r>
              <a:rPr lang="en-US" sz="2585">
                <a:solidFill>
                  <a:srgbClr val="F8F0E6"/>
                </a:solidFill>
                <a:latin typeface="DM Sans"/>
                <a:ea typeface="DM Sans"/>
                <a:cs typeface="DM Sans"/>
                <a:sym typeface="DM Sans"/>
              </a:rPr>
              <a:t>Calculate Feature Importance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819120" y="6497899"/>
            <a:ext cx="1188720" cy="89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sz="2620">
                <a:solidFill>
                  <a:srgbClr val="F8F0E6"/>
                </a:solidFill>
                <a:latin typeface="DM Sans"/>
                <a:ea typeface="DM Sans"/>
                <a:cs typeface="DM Sans"/>
                <a:sym typeface="DM Sans"/>
              </a:rPr>
              <a:t>Show Insights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97712" y="4908677"/>
            <a:ext cx="475488" cy="86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0"/>
              </a:lnSpc>
            </a:pPr>
            <a:r>
              <a:rPr lang="en-US" sz="6520" b="true">
                <a:solidFill>
                  <a:srgbClr val="F8F0E6"/>
                </a:solidFill>
                <a:latin typeface="DM Sans Bold"/>
                <a:ea typeface="DM Sans Bold"/>
                <a:cs typeface="DM Sans Bold"/>
                <a:sym typeface="DM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239375" cy="10287000"/>
          </a:xfrm>
          <a:custGeom>
            <a:avLst/>
            <a:gdLst/>
            <a:ahLst/>
            <a:cxnLst/>
            <a:rect r="r" b="b" t="t" l="l"/>
            <a:pathLst>
              <a:path h="10287000" w="10239375">
                <a:moveTo>
                  <a:pt x="0" y="0"/>
                </a:moveTo>
                <a:lnTo>
                  <a:pt x="10239375" y="0"/>
                </a:lnTo>
                <a:lnTo>
                  <a:pt x="10239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10775" y="0"/>
            <a:ext cx="8277225" cy="10287000"/>
          </a:xfrm>
          <a:custGeom>
            <a:avLst/>
            <a:gdLst/>
            <a:ahLst/>
            <a:cxnLst/>
            <a:rect r="r" b="b" t="t" l="l"/>
            <a:pathLst>
              <a:path h="10287000" w="8277225">
                <a:moveTo>
                  <a:pt x="0" y="0"/>
                </a:moveTo>
                <a:lnTo>
                  <a:pt x="8277225" y="0"/>
                </a:lnTo>
                <a:lnTo>
                  <a:pt x="82772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10775" y="857250"/>
            <a:ext cx="8067675" cy="4505325"/>
          </a:xfrm>
          <a:custGeom>
            <a:avLst/>
            <a:gdLst/>
            <a:ahLst/>
            <a:cxnLst/>
            <a:rect r="r" b="b" t="t" l="l"/>
            <a:pathLst>
              <a:path h="4505325" w="8067675">
                <a:moveTo>
                  <a:pt x="0" y="0"/>
                </a:moveTo>
                <a:lnTo>
                  <a:pt x="8067675" y="0"/>
                </a:lnTo>
                <a:lnTo>
                  <a:pt x="80676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2960" y="1334451"/>
            <a:ext cx="8613648" cy="93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5"/>
              </a:lnSpc>
            </a:pPr>
            <a:r>
              <a:rPr lang="en-US" sz="7005" b="true">
                <a:solidFill>
                  <a:srgbClr val="F6F4E7"/>
                </a:solidFill>
                <a:latin typeface="DM Sans Bold"/>
                <a:ea typeface="DM Sans Bold"/>
                <a:cs typeface="DM Sans Bold"/>
                <a:sym typeface="DM Sans Bold"/>
              </a:rPr>
              <a:t>Algorithms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6384" y="3310635"/>
            <a:ext cx="2834640" cy="38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6384" y="3699229"/>
            <a:ext cx="7150608" cy="82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6F4E7"/>
                </a:solidFill>
                <a:latin typeface="DM Sans"/>
                <a:ea typeface="DM Sans"/>
                <a:cs typeface="DM Sans"/>
                <a:sym typeface="DM Sans"/>
              </a:rPr>
              <a:t>Uses many decision trees together to predict wine quality.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944" y="4753607"/>
            <a:ext cx="2542032" cy="38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Decision Tree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6656" y="6115245"/>
            <a:ext cx="3639312" cy="38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Feature Importance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944" y="6505137"/>
            <a:ext cx="7936992" cy="82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>
                <a:solidFill>
                  <a:srgbClr val="F6F4E7"/>
                </a:solidFill>
                <a:latin typeface="DM Sans"/>
                <a:ea typeface="DM Sans"/>
                <a:cs typeface="DM Sans"/>
                <a:sym typeface="DM Sans"/>
              </a:rPr>
              <a:t>Shows which wine properties are most important for predicting quality.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6384" y="7538592"/>
            <a:ext cx="3218688" cy="38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Supporting Steps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6384" y="7968334"/>
            <a:ext cx="7059168" cy="124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6F4E7"/>
                </a:solidFill>
                <a:latin typeface="DM Sans"/>
                <a:ea typeface="DM Sans"/>
                <a:cs typeface="DM Sans"/>
                <a:sym typeface="DM Sans"/>
              </a:rPr>
              <a:t>The data is divided into training and testing sets, and the model is checked using performance measures.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4944" y="5166756"/>
            <a:ext cx="7150608" cy="82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6F4E7"/>
                </a:solidFill>
                <a:latin typeface="DM Sans"/>
                <a:ea typeface="DM Sans"/>
                <a:cs typeface="DM Sans"/>
                <a:sym typeface="DM Sans"/>
              </a:rPr>
              <a:t>Makes decisions by splitting the data based on different features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5850" y="4714875"/>
            <a:ext cx="1752600" cy="1504950"/>
          </a:xfrm>
          <a:custGeom>
            <a:avLst/>
            <a:gdLst/>
            <a:ahLst/>
            <a:cxnLst/>
            <a:rect r="r" b="b" t="t" l="l"/>
            <a:pathLst>
              <a:path h="1504950" w="175260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3550" y="4067175"/>
            <a:ext cx="1104900" cy="5581650"/>
          </a:xfrm>
          <a:custGeom>
            <a:avLst/>
            <a:gdLst/>
            <a:ahLst/>
            <a:cxnLst/>
            <a:rect r="r" b="b" t="t" l="l"/>
            <a:pathLst>
              <a:path h="5581650" w="1104900">
                <a:moveTo>
                  <a:pt x="0" y="0"/>
                </a:moveTo>
                <a:lnTo>
                  <a:pt x="1104900" y="0"/>
                </a:lnTo>
                <a:lnTo>
                  <a:pt x="1104900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29850" y="6858000"/>
            <a:ext cx="4362450" cy="2790825"/>
          </a:xfrm>
          <a:custGeom>
            <a:avLst/>
            <a:gdLst/>
            <a:ahLst/>
            <a:cxnLst/>
            <a:rect r="r" b="b" t="t" l="l"/>
            <a:pathLst>
              <a:path h="2790825" w="4362450">
                <a:moveTo>
                  <a:pt x="0" y="0"/>
                </a:moveTo>
                <a:lnTo>
                  <a:pt x="4362450" y="0"/>
                </a:lnTo>
                <a:lnTo>
                  <a:pt x="4362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5550" y="4714875"/>
            <a:ext cx="3714750" cy="5572125"/>
          </a:xfrm>
          <a:custGeom>
            <a:avLst/>
            <a:gdLst/>
            <a:ahLst/>
            <a:cxnLst/>
            <a:rect r="r" b="b" t="t" l="l"/>
            <a:pathLst>
              <a:path h="5572125" w="3714750">
                <a:moveTo>
                  <a:pt x="0" y="0"/>
                </a:moveTo>
                <a:lnTo>
                  <a:pt x="3714750" y="0"/>
                </a:lnTo>
                <a:lnTo>
                  <a:pt x="371475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4925" y="2781300"/>
            <a:ext cx="1743075" cy="6867525"/>
          </a:xfrm>
          <a:custGeom>
            <a:avLst/>
            <a:gdLst/>
            <a:ahLst/>
            <a:cxnLst/>
            <a:rect r="r" b="b" t="t" l="l"/>
            <a:pathLst>
              <a:path h="6867525" w="1743075">
                <a:moveTo>
                  <a:pt x="0" y="0"/>
                </a:moveTo>
                <a:lnTo>
                  <a:pt x="1743075" y="0"/>
                </a:lnTo>
                <a:lnTo>
                  <a:pt x="1743075" y="6867525"/>
                </a:lnTo>
                <a:lnTo>
                  <a:pt x="0" y="6867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70583" y="2781300"/>
            <a:ext cx="9759267" cy="6223673"/>
          </a:xfrm>
          <a:custGeom>
            <a:avLst/>
            <a:gdLst/>
            <a:ahLst/>
            <a:cxnLst/>
            <a:rect r="r" b="b" t="t" l="l"/>
            <a:pathLst>
              <a:path h="6223673" w="9759267">
                <a:moveTo>
                  <a:pt x="0" y="0"/>
                </a:moveTo>
                <a:lnTo>
                  <a:pt x="9759267" y="0"/>
                </a:lnTo>
                <a:lnTo>
                  <a:pt x="9759267" y="6223673"/>
                </a:lnTo>
                <a:lnTo>
                  <a:pt x="0" y="62236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77824" y="888301"/>
            <a:ext cx="713232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4"/>
              </a:lnSpc>
            </a:pPr>
            <a:r>
              <a:rPr lang="en-US" sz="6661" b="true">
                <a:solidFill>
                  <a:srgbClr val="E6DCD0"/>
                </a:solidFill>
                <a:latin typeface="DM Sans Bold"/>
                <a:ea typeface="DM Sans Bold"/>
                <a:cs typeface="DM Sans Bold"/>
                <a:sym typeface="DM Sans Bold"/>
              </a:rPr>
              <a:t>Expected Output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6878" y="1840801"/>
            <a:ext cx="8616672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8"/>
              </a:lnSpc>
              <a:spcBef>
                <a:spcPct val="0"/>
              </a:spcBef>
            </a:pPr>
            <a:r>
              <a:rPr lang="en-US" sz="2620">
                <a:solidFill>
                  <a:srgbClr val="E6DCD0"/>
                </a:solidFill>
                <a:latin typeface="DM Sans"/>
                <a:ea typeface="DM Sans"/>
                <a:cs typeface="DM Sans"/>
                <a:sym typeface="DM Sans"/>
              </a:rPr>
              <a:t>Which chemical property affects wine quality the most?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841726" y="671262"/>
            <a:ext cx="5319924" cy="5221874"/>
          </a:xfrm>
          <a:custGeom>
            <a:avLst/>
            <a:gdLst/>
            <a:ahLst/>
            <a:cxnLst/>
            <a:rect r="r" b="b" t="t" l="l"/>
            <a:pathLst>
              <a:path h="5221874" w="5319924">
                <a:moveTo>
                  <a:pt x="0" y="0"/>
                </a:moveTo>
                <a:lnTo>
                  <a:pt x="5319923" y="0"/>
                </a:lnTo>
                <a:lnTo>
                  <a:pt x="5319923" y="5221874"/>
                </a:lnTo>
                <a:lnTo>
                  <a:pt x="0" y="52218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316" r="-2910" b="-16025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49550" y="0"/>
            <a:ext cx="2838450" cy="7505700"/>
          </a:xfrm>
          <a:custGeom>
            <a:avLst/>
            <a:gdLst/>
            <a:ahLst/>
            <a:cxnLst/>
            <a:rect r="r" b="b" t="t" l="l"/>
            <a:pathLst>
              <a:path h="7505700" w="2838450">
                <a:moveTo>
                  <a:pt x="0" y="0"/>
                </a:moveTo>
                <a:lnTo>
                  <a:pt x="2838450" y="0"/>
                </a:lnTo>
                <a:lnTo>
                  <a:pt x="2838450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67700" y="7286625"/>
            <a:ext cx="6972300" cy="2362200"/>
          </a:xfrm>
          <a:custGeom>
            <a:avLst/>
            <a:gdLst/>
            <a:ahLst/>
            <a:cxnLst/>
            <a:rect r="r" b="b" t="t" l="l"/>
            <a:pathLst>
              <a:path h="2362200" w="6972300">
                <a:moveTo>
                  <a:pt x="0" y="0"/>
                </a:moveTo>
                <a:lnTo>
                  <a:pt x="6972300" y="0"/>
                </a:lnTo>
                <a:lnTo>
                  <a:pt x="6972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20925" y="6429375"/>
            <a:ext cx="3267075" cy="3000375"/>
          </a:xfrm>
          <a:custGeom>
            <a:avLst/>
            <a:gdLst/>
            <a:ahLst/>
            <a:cxnLst/>
            <a:rect r="r" b="b" t="t" l="l"/>
            <a:pathLst>
              <a:path h="3000375" w="3267075">
                <a:moveTo>
                  <a:pt x="0" y="0"/>
                </a:moveTo>
                <a:lnTo>
                  <a:pt x="3267075" y="0"/>
                </a:lnTo>
                <a:lnTo>
                  <a:pt x="3267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68000" y="8353425"/>
            <a:ext cx="1962150" cy="1076325"/>
          </a:xfrm>
          <a:custGeom>
            <a:avLst/>
            <a:gdLst/>
            <a:ahLst/>
            <a:cxnLst/>
            <a:rect r="r" b="b" t="t" l="l"/>
            <a:pathLst>
              <a:path h="1076325" w="1962150">
                <a:moveTo>
                  <a:pt x="0" y="0"/>
                </a:moveTo>
                <a:lnTo>
                  <a:pt x="1962150" y="0"/>
                </a:lnTo>
                <a:lnTo>
                  <a:pt x="1962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96625" y="1285875"/>
            <a:ext cx="4143375" cy="8791575"/>
          </a:xfrm>
          <a:custGeom>
            <a:avLst/>
            <a:gdLst/>
            <a:ahLst/>
            <a:cxnLst/>
            <a:rect r="r" b="b" t="t" l="l"/>
            <a:pathLst>
              <a:path h="8791575" w="4143375">
                <a:moveTo>
                  <a:pt x="0" y="0"/>
                </a:moveTo>
                <a:lnTo>
                  <a:pt x="4143375" y="0"/>
                </a:lnTo>
                <a:lnTo>
                  <a:pt x="4143375" y="8791575"/>
                </a:lnTo>
                <a:lnTo>
                  <a:pt x="0" y="8791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5850" y="3429000"/>
            <a:ext cx="4800600" cy="219075"/>
          </a:xfrm>
          <a:custGeom>
            <a:avLst/>
            <a:gdLst/>
            <a:ahLst/>
            <a:cxnLst/>
            <a:rect r="r" b="b" t="t" l="l"/>
            <a:pathLst>
              <a:path h="219075" w="4800600">
                <a:moveTo>
                  <a:pt x="0" y="0"/>
                </a:moveTo>
                <a:lnTo>
                  <a:pt x="4800600" y="0"/>
                </a:lnTo>
                <a:lnTo>
                  <a:pt x="4800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27180" y="4775701"/>
            <a:ext cx="8174736" cy="161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85"/>
              </a:lnSpc>
            </a:pPr>
            <a:r>
              <a:rPr lang="en-US" sz="12085" b="true">
                <a:solidFill>
                  <a:srgbClr val="D6D2C1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DAHTk8owIyw</dc:identifier>
  <dcterms:modified xsi:type="dcterms:W3CDTF">2011-08-01T06:04:30Z</dcterms:modified>
  <cp:revision>1</cp:revision>
  <dc:title>Random Forest</dc:title>
</cp:coreProperties>
</file>